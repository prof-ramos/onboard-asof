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CADCFC"/>
                </a:solidFill>
                <a:latin typeface="Aptos"/>
              </a:rPr>
              <a:t>ONBOARD ASOF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 associação criada pela carreira para representar, apoiar e conectar Oficiais de Chancelaria.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Origem, missão, convênios, cadastro e contribuição associativa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85876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CADCFC"/>
                </a:solidFill>
                <a:latin typeface="Aptos"/>
              </a:rPr>
              <a:t>1990  •  26 participantes  •  votação 24 x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960120"/>
            <a:ext cx="2880360" cy="4370832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325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1990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1901952"/>
            <a:ext cx="1993392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Fundação aprovada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por 24 votos 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2761488"/>
            <a:ext cx="1993392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26 Oficiais de Chancelaria, reunidos em Brasília, decidiram criar uma entidade própria e independente.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397763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Aptos"/>
              </a:rPr>
              <a:t>Mensagem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4224528"/>
            <a:ext cx="1993392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Representação institucional com apoio prático ao associado.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Aptos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ORIGEM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A ASOF nasce de uma decisão coletiva da carreira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Em 7 de agosto de 1990, Oficiais de Chancelaria decidiram criar uma associação própria para representar a carreira com autonomia institucional.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3657600"/>
            <a:ext cx="9509760" cy="0"/>
          </a:xfrm>
          <a:prstGeom prst="line">
            <a:avLst/>
          </a:prstGeom>
          <a:ln w="381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34440" y="3456432"/>
            <a:ext cx="384048" cy="384048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593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7 ago 1990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3367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0">
                <a:solidFill>
                  <a:srgbClr val="5C6674"/>
                </a:solidFill>
                <a:latin typeface="Aptos"/>
              </a:rPr>
              <a:t>Reunião inicial</a:t>
            </a:r>
          </a:p>
        </p:txBody>
      </p:sp>
      <p:sp>
        <p:nvSpPr>
          <p:cNvPr id="9" name="Oval 8"/>
          <p:cNvSpPr/>
          <p:nvPr/>
        </p:nvSpPr>
        <p:spPr>
          <a:xfrm>
            <a:off x="3977639" y="3456432"/>
            <a:ext cx="384048" cy="384048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39593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59" y="423367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0">
                <a:solidFill>
                  <a:srgbClr val="5C6674"/>
                </a:solidFill>
                <a:latin typeface="Aptos"/>
              </a:rPr>
              <a:t>participantes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3456432"/>
            <a:ext cx="384048" cy="384048"/>
          </a:xfrm>
          <a:prstGeom prst="ellipse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593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24 x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23367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0">
                <a:solidFill>
                  <a:srgbClr val="5C6674"/>
                </a:solidFill>
                <a:latin typeface="Aptos"/>
              </a:rPr>
              <a:t>votação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0" y="3456432"/>
            <a:ext cx="384048" cy="384048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9593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ASOF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23367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0">
                <a:solidFill>
                  <a:srgbClr val="5C6674"/>
                </a:solidFill>
                <a:latin typeface="Aptos"/>
              </a:rPr>
              <a:t>fundação imediata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2918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Aptos"/>
              </a:rPr>
              <a:t>Brasília, ASMRE, 18h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2024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5C6674"/>
                </a:solidFill>
                <a:latin typeface="Aptos"/>
              </a:rPr>
              <a:t>O debate considerou manter apenas um núcleo em outra entidade, mas prevaleceu a necessidade de representação própria.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ESCOLHA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A autonomia institucional foi a opção que definiu a associação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A fundação da ASOF responde a uma necessidade específica: representar os interesses da carreira com identidade própria e personalidade jurídica independente.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07492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Aptos"/>
              </a:rPr>
              <a:t>Alternativa considerada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ptos"/>
              </a:rPr>
              <a:t>Manter apenas um núcleo de Oficiais de Chancelaria dentro de uma estrutura associativa já existente.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5C6674"/>
                </a:solidFill>
                <a:latin typeface="Aptos"/>
              </a:rPr>
              <a:t>Preservaria apoio inicial, mas não resolveria a necessidade de identidade institucional própria.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43200"/>
            <a:ext cx="5074920" cy="24688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Aptos"/>
              </a:rPr>
              <a:t>Opção aprovada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343400" cy="1051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Criar uma associação exclusiva da categoria, com foco integral nos interesses dos Oficiais de Chancelaria.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57200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Aptos"/>
              </a:rPr>
              <a:t>A decisão consolidou autonomia, representação específica e continuidade institucional.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MISSÃO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O estatuto transforma a fundação em compromisso permanente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O estatuto consolida a ASOF como entidade civil sem fins lucrativos voltada à união da carreira, à representação institucional e à geração de apoio prático ao associado.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2103120" cy="205740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União da carreira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743200"/>
            <a:ext cx="2103120" cy="205740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342900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Representação institucional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43200"/>
            <a:ext cx="2103120" cy="2057400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42900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Aprimoramento profissional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743200"/>
            <a:ext cx="2103120" cy="2057400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342900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Benefícios e convênios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ENTREGA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O valor da ASOF combina representação, organização e apoio ao associado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A atuação associativa não se limita à defesa institucional. Ela também organiza o vínculo do associado e viabiliza benefícios concretos para a carreira e seus dependentes.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34640"/>
            <a:ext cx="164592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7" y="3017520"/>
            <a:ext cx="594360" cy="594360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7" y="3273552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3721608"/>
            <a:ext cx="9601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7947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ptos"/>
              </a:rPr>
              <a:t>Representar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5C6674"/>
                </a:solidFill>
                <a:latin typeface="Aptos"/>
              </a:rPr>
              <a:t>Leva demandas da carreira a autoridades e instituições.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834640"/>
            <a:ext cx="164592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0127" y="3017520"/>
            <a:ext cx="594360" cy="5943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7" y="3273552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7" y="3721608"/>
            <a:ext cx="9601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7947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ptos"/>
              </a:rPr>
              <a:t>Organizar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605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5C6674"/>
                </a:solidFill>
                <a:latin typeface="Aptos"/>
              </a:rPr>
              <a:t>Mantém base cadastral, regras e relacionamento associativo.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34640"/>
            <a:ext cx="164592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30367" y="3017520"/>
            <a:ext cx="594360" cy="59436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7" y="3273552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7" y="3721608"/>
            <a:ext cx="9601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37947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ptos"/>
              </a:rPr>
              <a:t>Conectar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1605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5C6674"/>
                </a:solidFill>
                <a:latin typeface="Aptos"/>
              </a:rPr>
              <a:t>Articula convênios e benefícios em diferentes frentes.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834640"/>
            <a:ext cx="1645920" cy="246888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50607" y="3017520"/>
            <a:ext cx="594360" cy="594360"/>
          </a:xfrm>
          <a:prstGeom prst="ellipse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7" y="3273552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7" y="3721608"/>
            <a:ext cx="9601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79476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ptos"/>
              </a:rPr>
              <a:t>Apoiar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05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5C6674"/>
                </a:solidFill>
                <a:latin typeface="Aptos"/>
              </a:rPr>
              <a:t>Transforma a associação em suporte contínuo ao associado.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Aptos"/>
              </a:rPr>
              <a:t>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Convênios ampliam o valor da associação no 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Aptos"/>
              </a:rPr>
              <a:t>O acervo disponível mostra uma rede ampla de parcerias que leva a atuação da ASOF para educação, saúde, bem-estar e serviços.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743200"/>
            <a:ext cx="1051560" cy="1051560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04488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>Educação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2743200"/>
            <a:ext cx="1051560" cy="105156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99923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904488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>Saúde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2743200"/>
            <a:ext cx="1051560" cy="1051560"/>
          </a:xfrm>
          <a:prstGeom prst="ellipse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99923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04488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>Lazer e bem-estar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2743200"/>
            <a:ext cx="1051560" cy="105156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99923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904488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>Serviços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33172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1">
                <a:solidFill>
                  <a:srgbClr val="065A82"/>
                </a:solidFill>
                <a:latin typeface="Aptos"/>
              </a:rPr>
              <a:t>Mais que desconto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108960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Aptos"/>
              </a:rPr>
              <a:t>Os convênios ajudam a transformar presença associativa em valor percebido no cotidiano.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Apto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Os convênios operam como uma rede de acesso organizada pela ASOF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223760" cy="5943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A associação articula o benefício, identifica o associado e divulga as parcerias. A prestação do serviço permanece com a empresa conveniada.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2468880" cy="160020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37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ASOF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880360"/>
            <a:ext cx="2468880" cy="160020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3337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Associado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 dependentes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880360"/>
            <a:ext cx="2468880" cy="1600200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337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Empresa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conveniada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1568" y="3657600"/>
            <a:ext cx="896112" cy="0"/>
          </a:xfrm>
          <a:prstGeom prst="line">
            <a:avLst/>
          </a:prstGeom>
          <a:ln w="3175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3657600"/>
            <a:ext cx="1143000" cy="0"/>
          </a:xfrm>
          <a:prstGeom prst="line">
            <a:avLst/>
          </a:prstGeom>
          <a:ln w="3175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26080" y="3200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0">
                <a:solidFill>
                  <a:srgbClr val="5C6674"/>
                </a:solidFill>
                <a:latin typeface="Aptos"/>
              </a:rPr>
              <a:t>declaração ou carteirinha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00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100" b="0">
                <a:solidFill>
                  <a:srgbClr val="5C6674"/>
                </a:solidFill>
                <a:latin typeface="Aptos"/>
              </a:rPr>
              <a:t>prestação do serviço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CADASTRO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O vínculo associativo depende de dados claros e atualizados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O formulário de atualização de dados organiza informações pessoais, funcionais, bancárias e de contato, sustentando comunicação, atendimento e cobrança associativa.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834640"/>
            <a:ext cx="214884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46504" y="3063240"/>
            <a:ext cx="548640" cy="548640"/>
          </a:xfrm>
          <a:prstGeom prst="ellipse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46504" y="331927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372160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95020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1A1A1A"/>
                </a:solidFill>
                <a:latin typeface="Aptos"/>
              </a:rPr>
              <a:t>Preencher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834640"/>
            <a:ext cx="214884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72584" y="3063240"/>
            <a:ext cx="548640" cy="54864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331927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72160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395020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1A1A1A"/>
                </a:solidFill>
                <a:latin typeface="Aptos"/>
              </a:rPr>
              <a:t>Assinar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834640"/>
            <a:ext cx="214884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98664" y="3063240"/>
            <a:ext cx="548640" cy="54864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4" y="331927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4" y="372160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95020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900" b="1">
                <a:solidFill>
                  <a:srgbClr val="1A1A1A"/>
                </a:solidFill>
                <a:latin typeface="Aptos"/>
              </a:rPr>
              <a:t>Remeter à ASOF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651760"/>
            <a:ext cx="1828800" cy="228600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926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Dados-chave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33756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contatos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situação funcional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dependentes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dados bancários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SUSTENTAÇÃO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A contribuição associativa financia a continuidade institucional da ASOF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040880" cy="5943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5C6674"/>
                </a:solidFill>
                <a:latin typeface="Aptos"/>
              </a:rPr>
              <a:t>O estatuto prevê a contribuição mensal como fonte regular de receita. O formulário atual mostra os valores praticados para desconto em folha.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2240280" cy="201168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R$ 40,00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743200"/>
            <a:ext cx="2240280" cy="20116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310896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Aposentado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65760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R$ 20,00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743200"/>
            <a:ext cx="2240280" cy="2011680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1874519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Exterior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5760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US$ 25,00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60604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5C6674"/>
                </a:solidFill>
                <a:latin typeface="Aptos"/>
              </a:rPr>
              <a:t>Leitura útil para o onboard:</a:t>
            </a:r>
          </a:p>
          <a:p>
            <a:pPr algn="l"/>
            <a:r>
              <a:rPr sz="1400" b="0">
                <a:solidFill>
                  <a:srgbClr val="5C6674"/>
                </a:solidFill>
                <a:latin typeface="Aptos"/>
              </a:rPr>
              <a:t/>
            </a:r>
          </a:p>
          <a:p>
            <a:pPr algn="l"/>
            <a:r>
              <a:rPr sz="1400" b="0">
                <a:solidFill>
                  <a:srgbClr val="5C6674"/>
                </a:solidFill>
                <a:latin typeface="Aptos"/>
              </a:rPr>
              <a:t>Estatuto: define a contribuição como base regular de receita.</a:t>
            </a:r>
          </a:p>
          <a:p>
            <a:pPr algn="l"/>
            <a:r>
              <a:rPr sz="1400" b="0">
                <a:solidFill>
                  <a:srgbClr val="5C6674"/>
                </a:solidFill>
                <a:latin typeface="Aptos"/>
              </a:rPr>
              <a:t>Formulário: explicita os valores operacionais do documento em uso.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Aptos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Associar-se é entrar em uma estrutura de representação e suporte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Aptos"/>
              </a:rPr>
              <a:t>A ASOF conecta identidade profissional, ação coletiva e benefícios concretos em uma mesma estrutura associativa.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88920"/>
            <a:ext cx="2468880" cy="182880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Representar</a:t>
            </a:r>
          </a:p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 carreira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788920"/>
            <a:ext cx="2468880" cy="1828800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19" y="33375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Fortalecer</a:t>
            </a:r>
          </a:p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vínculos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788920"/>
            <a:ext cx="2468880" cy="1828800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33375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Gerar apoio</a:t>
            </a:r>
          </a:p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prático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606040"/>
            <a:ext cx="1143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31089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500" b="1">
                <a:solidFill>
                  <a:srgbClr val="1E2761"/>
                </a:solidFill>
                <a:latin typeface="Aptos Display"/>
              </a:rPr>
              <a:t>Desde</a:t>
            </a:r>
          </a:p>
          <a:p>
            <a:pPr algn="ctr"/>
            <a:r>
              <a:rPr sz="2500" b="1">
                <a:solidFill>
                  <a:srgbClr val="1E2761"/>
                </a:solidFill>
                <a:latin typeface="Aptos Display"/>
              </a:rPr>
              <a:t>1990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406908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00" b="1">
                <a:solidFill>
                  <a:srgbClr val="065A82"/>
                </a:solidFill>
                <a:latin typeface="Aptos"/>
              </a:rPr>
              <a:t>Criada pela carreira</a:t>
            </a:r>
          </a:p>
          <a:p>
            <a:pPr algn="ctr"/>
            <a:r>
              <a:rPr sz="1200" b="1">
                <a:solidFill>
                  <a:srgbClr val="065A82"/>
                </a:solidFill>
                <a:latin typeface="Aptos"/>
              </a:rPr>
              <a:t>para servir à carreira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Apto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Apto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Lista completa dos convênios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Aptos"/>
              </a:rPr>
              <a:t>Os slides a seguir organizam os parceiros por categoria, com foco em consulta rápida e melhor legibilidade.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2560320" cy="420624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8288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 Display"/>
              </a:rPr>
              <a:t>Catálogo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Aptos Display"/>
              </a:rPr>
              <a:t>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24612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Listas por categoria para consulta rápida durante o onboard ou como anexo de apoio.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Apto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Convênios de educação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0">
                <a:solidFill>
                  <a:srgbClr val="5C6674"/>
                </a:solidFill>
                <a:latin typeface="Aptos"/>
              </a:rPr>
              <a:t>Parceiros identificados no acervo consultado para a frente de educação.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34747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441448"/>
            <a:ext cx="307238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Educação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807208"/>
            <a:ext cx="3072384" cy="279806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Aliança Francesa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CCAA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CIMAN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Colégio Dinatos COC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Cultura Inglesa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Curso Ignis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Escola Franciscana Fátima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Escola Presbiteriana Mackenzie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FACITEC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40280"/>
            <a:ext cx="34747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441448"/>
            <a:ext cx="307238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Educação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807208"/>
            <a:ext cx="3072384" cy="279806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FGV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Gran Cursos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IBMEC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IDP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IESB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Instituto Blaise Pascal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Laboro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MS Educação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Positive Idiomas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240280"/>
            <a:ext cx="329184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441448"/>
            <a:ext cx="288950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Educação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807208"/>
            <a:ext cx="2889504" cy="279806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Rede de Ensino JK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St. Giles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Studio On-line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Swiss International School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Thomas Jefferson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UDF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UniCEUB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UNIP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Wizard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5989320"/>
            <a:ext cx="3291840" cy="50292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6190488"/>
            <a:ext cx="288950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Complementares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6556248"/>
            <a:ext cx="2889504" cy="-26517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Centro Educacional Maria Auxiliadora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UNYLEYA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Instituto Formação para a Educação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3W Educacional Editora e Cursos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Convênios de saúde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498079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0">
                <a:solidFill>
                  <a:srgbClr val="5C6674"/>
                </a:solidFill>
                <a:latin typeface="Aptos"/>
              </a:rPr>
              <a:t>Primeira parte da frente de saúde, separada para manter leitura confortável em tela.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5029200" cy="3977639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441448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Saúde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807208"/>
            <a:ext cx="4626864" cy="32095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Aquafisio Hidroterapia Esportiva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Bonvena Medicina Reprodutiva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CBV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CDI Centro Diagnóstico por Imagem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Centro de Medicina Nuclear da Guanabara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CIORB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Clínica Plenus Psicologia e Saúde Integrada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Dermatologic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EBM-Odonto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Endogastrus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Home Hospital Ortopédico e Medicina Especializada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240280"/>
            <a:ext cx="5303520" cy="3977639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2441448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Saúde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807208"/>
            <a:ext cx="4901184" cy="32095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Implantocard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Juliana Cristina Paim Psicóloga Clínica e Neuropsicóloga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Laboratório Citoprev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Mei Li Acupuntura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Oculare Oftalmologia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Odontobrasília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Odontoempresa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Ressonance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Rita Trindade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RM Clínica Médica e Estética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Sabin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Souli Psicologia e Psicopedagogia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Convênios de saúde complementar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0">
                <a:solidFill>
                  <a:srgbClr val="5C6674"/>
                </a:solidFill>
                <a:latin typeface="Aptos"/>
              </a:rPr>
              <a:t>Parceiros adicionais citados em subpastas e documentação complementar do acervo.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657600" cy="256032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32888"/>
            <a:ext cx="325526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Complementares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898648"/>
            <a:ext cx="3255264" cy="17922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Microsom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Oftalmocenter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Implantomed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Instituto Oftalmológico Visão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Olhar Hospital Oftalmológico Ltda.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331720"/>
            <a:ext cx="6355080" cy="256032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6060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Leitura editorial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97180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 frente de saúde é a mais densa do acervo e cobre diagnósticos, clínicas, odontologia, psicologia, oftalmologia e serviços terapêuticos.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42976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Aptos"/>
              </a:rPr>
              <a:t>Na apresentação ao vivo, vale citar poucos exemplos e usar este slide como apoio de consulta, não como leitura integral.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Apto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ptos Display"/>
              </a:rPr>
              <a:t>Convênios de lazer e bem-estar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0">
                <a:solidFill>
                  <a:srgbClr val="5C6674"/>
                </a:solidFill>
                <a:latin typeface="Aptos"/>
              </a:rPr>
              <a:t>A categoria reúne atividades físicas, turismo, estética, hotelaria e serviços voltados à qualidade de vida.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5120640" cy="3977639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441448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Lazer e bem-estar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807208"/>
            <a:ext cx="4718304" cy="32095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Academia Club 22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Academia Companhia Athletica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Academia Dom Bosco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Academia Runway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Academia Team Nogueira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Academia Vasco Neto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ASBAC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Associação Cristã de Moços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ATP Atividades Físicas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Bancorbrás Consórcios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Bancorbrás Turismo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Bay Park Resort Hotel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240280"/>
            <a:ext cx="5303520" cy="3977639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2441448"/>
            <a:ext cx="4901184" cy="2560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tos"/>
              </a:rPr>
              <a:t>Lazer e bem-estar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807208"/>
            <a:ext cx="4901184" cy="32095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Camisaria Nyll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Clube dos Previdenciários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Corpus Studio de Pilates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Elia Spa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Equilibriom Estética e Podologia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Escola Ballet Garden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GrandBittar Hotel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Hotel Fazenda Mestre Darmas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Montreal Turismo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Nuwa Spa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Studio Caracóis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Studio Hair 180 Graus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tos"/>
              </a:rPr>
              <a:t>Thermas do Rio Quente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5C6674"/>
                </a:solidFill>
                <a:latin typeface="Apto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Apto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Convênios de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700" b="0">
                <a:solidFill>
                  <a:srgbClr val="CADCFC"/>
                </a:solidFill>
                <a:latin typeface="Aptos"/>
              </a:rPr>
              <a:t>Parcerias ligadas ao apoio ao dia a dia do associado identificadas no acervo disponível.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600200" cy="173736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7355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Hertz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743200"/>
            <a:ext cx="1600200" cy="1737360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327355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Lavanderia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Cleaners Club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743200"/>
            <a:ext cx="1600200" cy="1737360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327355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Lavanderia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Selecta BonaSecco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43200"/>
            <a:ext cx="1600200" cy="1737360"/>
          </a:xfrm>
          <a:prstGeom prst="roundRect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39" y="327355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Aptos"/>
              </a:rPr>
              <a:t>Óptica Elen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743200"/>
            <a:ext cx="1600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327355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Aptos"/>
              </a:rPr>
              <a:t>Grupo Porcão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0">
                <a:solidFill>
                  <a:srgbClr val="CADCFC"/>
                </a:solidFill>
                <a:latin typeface="Aptos"/>
              </a:rPr>
              <a:t>Esses convênios complementam a proposta de valor da ASOF ao conectar representação institucional com utilidade cotidiana.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8208" y="6144768"/>
            <a:ext cx="713232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Apto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