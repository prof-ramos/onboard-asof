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CADCFC"/>
                </a:solidFill>
                <a:latin typeface="Aptos"/>
              </a:rPr>
              <a:t>ONBOARD ASOF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A associação criada pela carreira para representar, apoiar e conectar Oficiais de Chancelaria.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ptos"/>
              </a:rPr>
              <a:t>Origem, missão, convênios, cadastro e contribuição associativa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731520"/>
            <a:ext cx="3657600" cy="512064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2801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1990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01168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Fundação deliberada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por 24 votos 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310896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26 Oficiais de Chancelaria reunidos em Brasília decidiram criar uma entidade própria e juridicamente independente.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00" b="1">
                <a:solidFill>
                  <a:srgbClr val="F9E795"/>
                </a:solidFill>
                <a:latin typeface="Aptos"/>
              </a:rPr>
              <a:t>Mensagem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507492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 ASOF une representação institucional e apoio prático ao associado.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CADCFC"/>
                </a:solidFill>
                <a:latin typeface="Aptos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ORIGEM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A ASOF nasce de uma decisão coletiva da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Em 7 de agosto de 1990, Oficiais de Chancelaria decidiram criar uma associação própria para representar a carreira com autonomia institucional.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3657600"/>
            <a:ext cx="9509760" cy="0"/>
          </a:xfrm>
          <a:prstGeom prst="line">
            <a:avLst/>
          </a:prstGeom>
          <a:ln w="381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234440" y="3456432"/>
            <a:ext cx="384048" cy="384048"/>
          </a:xfrm>
          <a:prstGeom prst="ellipse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59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Aptos"/>
              </a:rPr>
              <a:t>7 ago 1990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3367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100" b="0">
                <a:solidFill>
                  <a:srgbClr val="5C6674"/>
                </a:solidFill>
                <a:latin typeface="Aptos"/>
              </a:rPr>
              <a:t>Reunião inicial</a:t>
            </a:r>
          </a:p>
        </p:txBody>
      </p:sp>
      <p:sp>
        <p:nvSpPr>
          <p:cNvPr id="9" name="Oval 8"/>
          <p:cNvSpPr/>
          <p:nvPr/>
        </p:nvSpPr>
        <p:spPr>
          <a:xfrm>
            <a:off x="3977639" y="3456432"/>
            <a:ext cx="384048" cy="384048"/>
          </a:xfrm>
          <a:prstGeom prst="ellipse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59" y="3959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Aptos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59" y="423367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100" b="0">
                <a:solidFill>
                  <a:srgbClr val="5C6674"/>
                </a:solidFill>
                <a:latin typeface="Aptos"/>
              </a:rPr>
              <a:t>participantes</a:t>
            </a:r>
          </a:p>
        </p:txBody>
      </p:sp>
      <p:sp>
        <p:nvSpPr>
          <p:cNvPr id="12" name="Oval 11"/>
          <p:cNvSpPr/>
          <p:nvPr/>
        </p:nvSpPr>
        <p:spPr>
          <a:xfrm>
            <a:off x="6675120" y="3456432"/>
            <a:ext cx="384048" cy="384048"/>
          </a:xfrm>
          <a:prstGeom prst="ellipse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959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Aptos"/>
              </a:rPr>
              <a:t>24 x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23367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100" b="0">
                <a:solidFill>
                  <a:srgbClr val="5C6674"/>
                </a:solidFill>
                <a:latin typeface="Aptos"/>
              </a:rPr>
              <a:t>votação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0" y="3456432"/>
            <a:ext cx="384048" cy="384048"/>
          </a:xfrm>
          <a:prstGeom prst="ellipse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959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Aptos"/>
              </a:rPr>
              <a:t>ASOF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23367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100" b="0">
                <a:solidFill>
                  <a:srgbClr val="5C6674"/>
                </a:solidFill>
                <a:latin typeface="Aptos"/>
              </a:rPr>
              <a:t>fundação imediata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325880"/>
            <a:ext cx="329184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6002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ptos"/>
              </a:rPr>
              <a:t>Brasília, ASMRE, 18h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560320" cy="5943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00" b="0">
                <a:solidFill>
                  <a:srgbClr val="5C6674"/>
                </a:solidFill>
                <a:latin typeface="Aptos"/>
              </a:rPr>
              <a:t>O debate considerou manter apenas um núcleo em outra entidade, mas prevaleceu a necessidade de representação própria.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ESCOLHA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A autonomia institucional foi a opção que definiu a associação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A fundação da ASOF responde a uma necessidade específica: representar os interesses da carreira com identidade própria e personalidade jurídica independente.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07492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Aptos"/>
              </a:rPr>
              <a:t>Alternativa considerada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Aptos"/>
              </a:rPr>
              <a:t>Manter apenas um núcleo de Oficiais de Chancelaria dentro de uma estrutura associativa já existente.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00" b="0">
                <a:solidFill>
                  <a:srgbClr val="5C6674"/>
                </a:solidFill>
                <a:latin typeface="Aptos"/>
              </a:rPr>
              <a:t>Preservaria apoio inicial, mas não resolveria a necessidade de identidade institucional própria.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743200"/>
            <a:ext cx="5074920" cy="246888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3017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F9E795"/>
                </a:solidFill>
                <a:latin typeface="Aptos"/>
              </a:rPr>
              <a:t>Opção aprovada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429000"/>
            <a:ext cx="4343400" cy="10515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Criar uma associação exclusiva da categoria, com foco integral nos interesses dos Oficiais de Chancelaria.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572000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ptos"/>
              </a:rPr>
              <a:t>A decisão consolidou autonomia, representação específica e continuidade institucional.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MISSÃO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O estatuto transforma a fundação em compromisso permanente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O estatuto consolida a ASOF como entidade civil sem fins lucrativos voltada à união da carreira, à representação institucional e à geração de apoio prático ao associado.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43200"/>
            <a:ext cx="2103120" cy="205740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2900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União da carreira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2743200"/>
            <a:ext cx="2103120" cy="205740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342900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Representação institucional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743200"/>
            <a:ext cx="2103120" cy="2057400"/>
          </a:xfrm>
          <a:prstGeom prst="roundRect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42900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Aprimoramento profissional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2743200"/>
            <a:ext cx="2103120" cy="2057400"/>
          </a:xfrm>
          <a:prstGeom prst="roundRect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342900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Benefícios e convênios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ENTREGA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O valor da ASOF combina representação, organização e apoio ao associado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A atuação associativa não se limita à defesa institucional. Ela também organiza o vínculo do associado e viabiliza benefícios concretos para a carreira e seus dependentes.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164592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89887" y="3017520"/>
            <a:ext cx="594360" cy="594360"/>
          </a:xfrm>
          <a:prstGeom prst="ellipse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7" y="3273552"/>
            <a:ext cx="5943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3721608"/>
            <a:ext cx="9601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37947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Aptos"/>
              </a:rPr>
              <a:t>Representar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5C6674"/>
                </a:solidFill>
                <a:latin typeface="Aptos"/>
              </a:rPr>
              <a:t>Leva demandas da carreira a autoridades e instituições.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834640"/>
            <a:ext cx="164592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0127" y="3017520"/>
            <a:ext cx="594360" cy="594360"/>
          </a:xfrm>
          <a:prstGeom prst="ellipse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7" y="3273552"/>
            <a:ext cx="5943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7" y="3721608"/>
            <a:ext cx="9601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7947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Aptos"/>
              </a:rPr>
              <a:t>Organizar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1605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5C6674"/>
                </a:solidFill>
                <a:latin typeface="Aptos"/>
              </a:rPr>
              <a:t>Mantém base cadastral, regras e relacionamento associativo.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34640"/>
            <a:ext cx="164592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30367" y="3017520"/>
            <a:ext cx="594360" cy="594360"/>
          </a:xfrm>
          <a:prstGeom prst="ellipse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0367" y="3273552"/>
            <a:ext cx="5943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7487" y="3721608"/>
            <a:ext cx="9601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2" y="37947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Aptos"/>
              </a:rPr>
              <a:t>Conectar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1605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5C6674"/>
                </a:solidFill>
                <a:latin typeface="Aptos"/>
              </a:rPr>
              <a:t>Articula convênios e benefícios em diferentes frentes.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2834640"/>
            <a:ext cx="164592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50607" y="3017520"/>
            <a:ext cx="594360" cy="594360"/>
          </a:xfrm>
          <a:prstGeom prst="ellipse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7" y="3273552"/>
            <a:ext cx="5943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7" y="3721608"/>
            <a:ext cx="9601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37947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Aptos"/>
              </a:rPr>
              <a:t>Apoiar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1605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5C6674"/>
                </a:solidFill>
                <a:latin typeface="Aptos"/>
              </a:rPr>
              <a:t>Transforma a associação em suporte contínuo ao associado.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Aptos"/>
              </a:rPr>
              <a:t>BENEFÍCIOS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Convênios ampliam o valor da associação no 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CADCFC"/>
                </a:solidFill>
                <a:latin typeface="Aptos"/>
              </a:rPr>
              <a:t>O acervo disponível mostra uma rede ampla de parcerias que leva a atuação da ASOF para educação, saúde, bem-estar e serviços.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743200"/>
            <a:ext cx="1051560" cy="1051560"/>
          </a:xfrm>
          <a:prstGeom prst="ellipse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99232"/>
            <a:ext cx="10515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04488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>Educação</a:t>
            </a:r>
          </a:p>
        </p:txBody>
      </p:sp>
      <p:sp>
        <p:nvSpPr>
          <p:cNvPr id="8" name="Oval 7"/>
          <p:cNvSpPr/>
          <p:nvPr/>
        </p:nvSpPr>
        <p:spPr>
          <a:xfrm>
            <a:off x="2971800" y="2743200"/>
            <a:ext cx="1051560" cy="1051560"/>
          </a:xfrm>
          <a:prstGeom prst="ellipse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999232"/>
            <a:ext cx="10515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904488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>Saúde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0" y="2743200"/>
            <a:ext cx="1051560" cy="1051560"/>
          </a:xfrm>
          <a:prstGeom prst="ellipse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2999232"/>
            <a:ext cx="10515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904488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>Lazer e bem-estar</a:t>
            </a:r>
          </a:p>
        </p:txBody>
      </p:sp>
      <p:sp>
        <p:nvSpPr>
          <p:cNvPr id="14" name="Oval 13"/>
          <p:cNvSpPr/>
          <p:nvPr/>
        </p:nvSpPr>
        <p:spPr>
          <a:xfrm>
            <a:off x="7086600" y="2743200"/>
            <a:ext cx="1051560" cy="1051560"/>
          </a:xfrm>
          <a:prstGeom prst="ellipse">
            <a:avLst/>
          </a:prstGeom>
          <a:solidFill>
            <a:srgbClr val="F9E795"/>
          </a:solidFill>
          <a:ln>
            <a:solidFill>
              <a:srgbClr val="F9E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999232"/>
            <a:ext cx="105156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904488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>Serviços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331720"/>
            <a:ext cx="192024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Aptos"/>
              </a:rPr>
              <a:t>Mais que desconto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108960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E2761"/>
                </a:solidFill>
                <a:latin typeface="Aptos"/>
              </a:rPr>
              <a:t>Os convênios ajudam a transformar presença associativa em valor percebido no cotidiano.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CADCFC"/>
                </a:solidFill>
                <a:latin typeface="Aptos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FUNCIONAMENTO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Os convênios operam como uma rede de acesso organizada pela ASOF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223760" cy="5943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A associação articula o benefício, identifica o associado e divulga as parcerias. A prestação do serviço permanece com a empresa conveniada.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80360"/>
            <a:ext cx="2468880" cy="160020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3756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ASOF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880360"/>
            <a:ext cx="2468880" cy="160020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333756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Associado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e dependentes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2880360"/>
            <a:ext cx="2468880" cy="1600200"/>
          </a:xfrm>
          <a:prstGeom prst="roundRect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333756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Empresa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conveniada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01568" y="3657600"/>
            <a:ext cx="896112" cy="0"/>
          </a:xfrm>
          <a:prstGeom prst="line">
            <a:avLst/>
          </a:prstGeom>
          <a:ln w="3175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66560" y="3657600"/>
            <a:ext cx="1143000" cy="0"/>
          </a:xfrm>
          <a:prstGeom prst="line">
            <a:avLst/>
          </a:prstGeom>
          <a:ln w="3175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6080" y="3200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100" b="0">
                <a:solidFill>
                  <a:srgbClr val="5C6674"/>
                </a:solidFill>
                <a:latin typeface="Aptos"/>
              </a:rPr>
              <a:t>declaração ou carteirinha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200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100" b="0">
                <a:solidFill>
                  <a:srgbClr val="5C6674"/>
                </a:solidFill>
                <a:latin typeface="Aptos"/>
              </a:rPr>
              <a:t>prestação do serviço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CADASTRO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O vínculo associativo depende de dados claros e atualizados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O formulário de atualização de dados organiza informações pessoais, funcionais, bancárias e de contato, sustentando comunicação, atendimento e cobrança associativa.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834640"/>
            <a:ext cx="21488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46504" y="3063240"/>
            <a:ext cx="548640" cy="548640"/>
          </a:xfrm>
          <a:prstGeom prst="ellipse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46504" y="3319272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" y="3721608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395020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1A1A1A"/>
                </a:solidFill>
                <a:latin typeface="Aptos"/>
              </a:rPr>
              <a:t>Preencher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2834640"/>
            <a:ext cx="21488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72584" y="3063240"/>
            <a:ext cx="548640" cy="548640"/>
          </a:xfrm>
          <a:prstGeom prst="ellipse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3319272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3721608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395020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1A1A1A"/>
                </a:solidFill>
                <a:latin typeface="Aptos"/>
              </a:rPr>
              <a:t>Assinar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834640"/>
            <a:ext cx="21488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98664" y="3063240"/>
            <a:ext cx="548640" cy="548640"/>
          </a:xfrm>
          <a:prstGeom prst="ellipse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8664" y="3319272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4" y="3721608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95020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900" b="1">
                <a:solidFill>
                  <a:srgbClr val="1A1A1A"/>
                </a:solidFill>
                <a:latin typeface="Aptos"/>
              </a:rPr>
              <a:t>Remeter à ASOF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2651760"/>
            <a:ext cx="1828800" cy="228600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2926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Dados-chave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3337560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contatos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situação funcional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dependentes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dados bancários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SUSTENTAÇÃO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A contribuição associativa financia a continuidade institucional da ASOF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040880" cy="5943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>
                <a:solidFill>
                  <a:srgbClr val="5C6674"/>
                </a:solidFill>
                <a:latin typeface="Aptos"/>
              </a:rPr>
              <a:t>O estatuto prevê a contribuição mensal como fonte regular de receita. O formulário atual mostra os valores praticados para desconto em folha.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743200"/>
            <a:ext cx="2240280" cy="201168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10896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tos Display"/>
              </a:rPr>
              <a:t>R$ 40,00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743200"/>
            <a:ext cx="2240280" cy="201168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310896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Aposentado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65760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tos Display"/>
              </a:rPr>
              <a:t>R$ 20,00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743200"/>
            <a:ext cx="2240280" cy="2011680"/>
          </a:xfrm>
          <a:prstGeom prst="roundRect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10896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Exterior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65760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tos Display"/>
              </a:rPr>
              <a:t>US$ 25,00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606040"/>
            <a:ext cx="1828800" cy="1828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0">
                <a:solidFill>
                  <a:srgbClr val="5C6674"/>
                </a:solidFill>
                <a:latin typeface="Aptos"/>
              </a:rPr>
              <a:t>Leitura útil para o onboard:</a:t>
            </a:r>
          </a:p>
          <a:p>
            <a:pPr algn="l"/>
            <a:r>
              <a:rPr sz="1400" b="0">
                <a:solidFill>
                  <a:srgbClr val="5C6674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5C6674"/>
                </a:solidFill>
                <a:latin typeface="Aptos"/>
              </a:rPr>
              <a:t>Estatuto: define a contribuição como base regular de receita.</a:t>
            </a:r>
          </a:p>
          <a:p>
            <a:pPr algn="l"/>
            <a:r>
              <a:rPr sz="1400" b="0">
                <a:solidFill>
                  <a:srgbClr val="5C6674"/>
                </a:solidFill>
                <a:latin typeface="Aptos"/>
              </a:rPr>
              <a:t>Formulário: explicita os valores operacionais do documento em uso.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Aptos"/>
              </a:rPr>
              <a:t>FECHAMENTO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Associar-se é entrar em uma estrutura de representação e suporte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ptos"/>
              </a:rPr>
              <a:t>A ASOF conecta identidade profissional, ação coletiva e benefícios concretos em uma mesma estrutura associativa.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88920"/>
            <a:ext cx="2468880" cy="182880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375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Representar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a carreira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2788920"/>
            <a:ext cx="2468880" cy="1828800"/>
          </a:xfrm>
          <a:prstGeom prst="roundRect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19" y="33375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Fortalecer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vínculos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788920"/>
            <a:ext cx="2468880" cy="1828800"/>
          </a:xfrm>
          <a:prstGeom prst="roundRect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33375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Gerar apoio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Aptos"/>
              </a:rPr>
              <a:t>prático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606040"/>
            <a:ext cx="1143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3108960"/>
            <a:ext cx="8686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2500" b="1">
                <a:solidFill>
                  <a:srgbClr val="1E2761"/>
                </a:solidFill>
                <a:latin typeface="Aptos Display"/>
              </a:rPr>
              <a:t>Desde</a:t>
            </a:r>
          </a:p>
          <a:p>
            <a:pPr algn="ctr"/>
            <a:r>
              <a:rPr sz="2500" b="1">
                <a:solidFill>
                  <a:srgbClr val="1E2761"/>
                </a:solidFill>
                <a:latin typeface="Aptos Display"/>
              </a:rPr>
              <a:t>1990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406908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65A82"/>
                </a:solidFill>
                <a:latin typeface="Aptos"/>
              </a:rPr>
              <a:t>Criada pela carreira</a:t>
            </a:r>
          </a:p>
          <a:p>
            <a:pPr algn="ctr"/>
            <a:r>
              <a:rPr sz="1200" b="1">
                <a:solidFill>
                  <a:srgbClr val="065A82"/>
                </a:solidFill>
                <a:latin typeface="Aptos"/>
              </a:rPr>
              <a:t>para servir à carreira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CADCFC"/>
                </a:solidFill>
                <a:latin typeface="Aptos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APÊNDICE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Convênios de educação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700" b="0">
                <a:solidFill>
                  <a:srgbClr val="5C6674"/>
                </a:solidFill>
                <a:latin typeface="Aptos"/>
              </a:rPr>
              <a:t>Lista dos parceiros identificados no acervo consultado para a frente de educação.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474720" cy="347472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34840" y="2331720"/>
            <a:ext cx="3474720" cy="347472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3291840" cy="347472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834640" cy="26517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Aliança Francesa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CCAA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CIMAN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Colégio Dinatos COC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Cultura Inglesa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Curso Ignis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Escola Franciscana Fátima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Escola Presbiteriana Mackenzie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FACITEC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97480"/>
            <a:ext cx="2743200" cy="26517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FGV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Gran Cursos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IBMEC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IDP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IESB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Instituto Blaise Pascal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Laboro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MS Educação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Positive Idiomas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697480"/>
            <a:ext cx="2651760" cy="26517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Rede de Ensino JK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St. Giles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Studio On-line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Swiss International School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Thomas Jefferson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UDF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UniCEUB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UNIP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tos"/>
              </a:rPr>
              <a:t>Wizard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APÊNDICE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Convênios de educação complementar e saúde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700" b="0">
                <a:solidFill>
                  <a:srgbClr val="5C6674"/>
                </a:solidFill>
                <a:latin typeface="Aptos"/>
              </a:rPr>
              <a:t>Além da lista principal, o acervo contém parceiros complementares em educação e uma frente extensa de saúde.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108960" cy="356616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Educação complementar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2468880" cy="2011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Centro Educacional Maria Auxiliadora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UNYLEYA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Instituto Formação para a Educação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3W Educacional Editora e Cursos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331720"/>
            <a:ext cx="34747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18120" y="2331720"/>
            <a:ext cx="34747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651760"/>
            <a:ext cx="2834640" cy="2834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Aquafisio Hidroterapia Esportiva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Bonvena Medicina Reprodutiva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CBV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CDI Centro Diagnóstico por Imagem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Centro de Medicina Nuclear da Guanabara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CIORB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Clínica Plenus Psicologia e Saúde Integrada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Dermatologic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EBM-Odonto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Endogastrus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Home Hospital Ortopédico e Medicina Especializada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Implantocard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651760"/>
            <a:ext cx="2834640" cy="2834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Juliana Cristina Paim Psicóloga Clínica e Neuropsicóloga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Laboratório Citoprev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Mei Li Acupuntura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Oculare Oftalmologia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Odontobrasília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Odontoempresa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Ressonance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Rita Trindade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RM Clínica Médica e Estética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Sabin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Souli Psicologia e Psicopedagogia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065A82"/>
                </a:solidFill>
                <a:latin typeface="Aptos"/>
              </a:rPr>
              <a:t>APÊNDICE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ptos Display"/>
              </a:rPr>
              <a:t>Convênios de saúde complementar e lazer e bem-estar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2926080" cy="420624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57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Saúde complementar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Microsom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Oftalmocenter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Implantomed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Instituto Oftalmológico Visão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Olhar Hospital Oftalmológico Ltda.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737360"/>
            <a:ext cx="3474720" cy="420624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657600" cy="4206240"/>
          </a:xfrm>
          <a:prstGeom prst="round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2057400"/>
            <a:ext cx="2834640" cy="33832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Academia Club 22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Academia Companhia Athletica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Academia Dom Bosco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Academia Runway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Academia Team Nogueira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Academia Vasco Neto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ASBAC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Associação Cristã de Moços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ATP Atividades Físicas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Bancorbrás Consórcios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Bancorbrás Turismo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Bay Park Resort Hotel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Camisaria Nyll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Clube dos Previdenciários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Corpus Studio de Pilates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Elia Spa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Equilibriom Estética e Podologia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Escola Ballet Garden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GrandBittar Hotel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Hotel Fazenda Mestre Darmas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Montreal Turismo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Nuwa Spa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Studio Caracóis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Studio Hair 180 Graus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tos"/>
              </a:rPr>
              <a:t>Thermas do Rio Quente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5C6674"/>
                </a:solidFill>
                <a:latin typeface="Aptos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Aptos"/>
              </a:rPr>
              <a:t>APÊNDICE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Convênios de serviços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700" b="0">
                <a:solidFill>
                  <a:srgbClr val="CADCFC"/>
                </a:solidFill>
                <a:latin typeface="Aptos"/>
              </a:rPr>
              <a:t>Parcerias ligadas ao apoio ao dia a dia do associado identificadas no acervo disponível.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600200" cy="1737360"/>
          </a:xfrm>
          <a:prstGeom prst="roundRect">
            <a:avLst/>
          </a:prstGeom>
          <a:solidFill>
            <a:srgbClr val="065A82"/>
          </a:solidFill>
          <a:ln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273552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Hertz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743200"/>
            <a:ext cx="1600200" cy="1737360"/>
          </a:xfrm>
          <a:prstGeom prst="roundRect">
            <a:avLst/>
          </a:prstGeom>
          <a:solidFill>
            <a:srgbClr val="00A896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3273552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Lavanderia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Cleaners Club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2743200"/>
            <a:ext cx="1600200" cy="1737360"/>
          </a:xfrm>
          <a:prstGeom prst="roundRect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3273552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Lavanderia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Selecta BonaSecco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743200"/>
            <a:ext cx="1600200" cy="1737360"/>
          </a:xfrm>
          <a:prstGeom prst="roundRect">
            <a:avLst/>
          </a:prstGeom>
          <a:solidFill>
            <a:srgbClr val="F9E795"/>
          </a:solidFill>
          <a:ln>
            <a:solidFill>
              <a:srgbClr val="F9E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3273552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E2761"/>
                </a:solidFill>
                <a:latin typeface="Aptos"/>
              </a:rPr>
              <a:t>Óptica Elen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2743200"/>
            <a:ext cx="16002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3273552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1E2761"/>
                </a:solidFill>
                <a:latin typeface="Aptos"/>
              </a:rPr>
              <a:t>Grupo Porcão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800" b="0">
                <a:solidFill>
                  <a:srgbClr val="CADCFC"/>
                </a:solidFill>
                <a:latin typeface="Aptos"/>
              </a:rPr>
              <a:t>Esses convênios complementam a proposta de valor da ASOF ao conectar representação institucional com utilidade cotidiana.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008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000" b="0">
                <a:solidFill>
                  <a:srgbClr val="CADCFC"/>
                </a:solidFill>
                <a:latin typeface="Aptos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